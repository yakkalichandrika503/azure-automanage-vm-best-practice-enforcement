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4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CDDC"/>
                </a:solidFill>
                <a:latin typeface="Aptos"/>
              </a:defRPr>
            </a:pPr>
            <a:r>
              <a:t>24CC3046-P078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Azure</a:t>
            </a:r>
            <a:br/>
            <a:r>
              <a:t>Automanage</a:t>
            </a:r>
            <a:br/>
            <a:r>
              <a:t>and VM Best</a:t>
            </a:r>
            <a:br/>
            <a:r>
              <a:t>Practice</a:t>
            </a:r>
            <a:br/>
            <a:r>
              <a:t>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4DCE6"/>
                </a:solidFill>
                <a:latin typeface="Aptos"/>
              </a:defRPr>
            </a:pPr>
            <a:r>
              <a:t>Operations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D46"/>
                </a:solidFill>
                <a:latin typeface="Aptos"/>
              </a:defRPr>
            </a:pPr>
            <a:r>
              <a:t>A practical approach to applying platform standards automatically across virtual machines.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2743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8791"/>
                </a:solidFill>
                <a:latin typeface="Aptos"/>
              </a:defRPr>
            </a:pPr>
            <a:r>
              <a:t>1 team  ·  4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3136392"/>
            <a:ext cx="6675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2400030927 – Y. Chandrika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2400031288 – T. Nikhil Teja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2400031114 – Deepak Kumar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2400030830 – Shaik Mansur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Why this operations challenge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2D3741"/>
                </a:solidFill>
                <a:latin typeface="Aptos"/>
              </a:defRPr>
            </a:pPr>
            <a:r>
              <a:t>Organizations often manage many Azure virtual machines with different configurations. Manual enforcement of platform standards is slow, inconsistent, and difficult to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32461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78B4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More VMs mean more configuration drift and operational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54680"/>
            <a:ext cx="32461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8791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9776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Every VM should follow approved platform best practices.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154680"/>
            <a:ext cx="324612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BE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BE7D19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776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Policies should be applied continuously with minimal manual effort.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Use cases: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Where Azure Automanage can provide operational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2D3741"/>
                </a:solidFill>
                <a:latin typeface="Aptos"/>
              </a:defRPr>
            </a:pPr>
            <a:r>
              <a:t>• Apply platform best practices to all VMs automatically</a:t>
            </a:r>
          </a:p>
          <a:p>
            <a:pPr>
              <a:spcAft>
                <a:spcPts val="1800"/>
              </a:spcAft>
              <a:defRPr sz="2700">
                <a:solidFill>
                  <a:srgbClr val="2D3741"/>
                </a:solidFill>
                <a:latin typeface="Aptos"/>
              </a:defRPr>
            </a:pPr>
            <a:r>
              <a:t>• Reduce manual configuration effort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023360"/>
            <a:ext cx="658368" cy="658368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7880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741"/>
                </a:solidFill>
                <a:latin typeface="Aptos"/>
              </a:defRPr>
            </a:pPr>
            <a:r>
              <a:t>Define standards</a:t>
            </a:r>
          </a:p>
        </p:txBody>
      </p:sp>
      <p:sp>
        <p:nvSpPr>
          <p:cNvPr id="10" name="Chevron 9"/>
          <p:cNvSpPr/>
          <p:nvPr/>
        </p:nvSpPr>
        <p:spPr>
          <a:xfrm>
            <a:off x="2148839" y="4178808"/>
            <a:ext cx="1828800" cy="347472"/>
          </a:xfrm>
          <a:prstGeom prst="chevron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4023360"/>
            <a:ext cx="658368" cy="658368"/>
          </a:xfrm>
          <a:prstGeom prst="ellipse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17880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741"/>
                </a:solidFill>
                <a:latin typeface="Aptos"/>
              </a:defRPr>
            </a:pPr>
            <a:r>
              <a:t>Apply automatically</a:t>
            </a:r>
          </a:p>
        </p:txBody>
      </p:sp>
      <p:sp>
        <p:nvSpPr>
          <p:cNvPr id="14" name="Chevron 13"/>
          <p:cNvSpPr/>
          <p:nvPr/>
        </p:nvSpPr>
        <p:spPr>
          <a:xfrm>
            <a:off x="5806440" y="4178808"/>
            <a:ext cx="1828800" cy="347472"/>
          </a:xfrm>
          <a:prstGeom prst="chevron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4023360"/>
            <a:ext cx="658368" cy="658368"/>
          </a:xfrm>
          <a:prstGeom prst="ellipse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17880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46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741"/>
                </a:solidFill>
                <a:latin typeface="Aptos"/>
              </a:defRPr>
            </a:pPr>
            <a:r>
              <a:t>Maintain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Use cases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Examples of VM-management 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828800"/>
            <a:ext cx="530352" cy="530352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53035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739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78B4"/>
                </a:solidFill>
                <a:latin typeface="Aptos"/>
              </a:defRPr>
            </a:pPr>
            <a:r>
              <a:t>New VM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12848"/>
            <a:ext cx="3886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Apply a consistent baseline when a VM is created, reducing setup time and missed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828800"/>
            <a:ext cx="530352" cy="530352"/>
          </a:xfrm>
          <a:prstGeom prst="ellipse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3035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739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8791"/>
                </a:solidFill>
                <a:latin typeface="Aptos"/>
              </a:defRPr>
            </a:pPr>
            <a:r>
              <a:t>Security &amp; patching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12848"/>
            <a:ext cx="3886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Maintain approved security and update-management practices across standard workloads.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BE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886200"/>
            <a:ext cx="530352" cy="530352"/>
          </a:xfrm>
          <a:prstGeom prst="ellipse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53035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8313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E7D19"/>
                </a:solidFill>
                <a:latin typeface="Aptos"/>
              </a:defRPr>
            </a:pPr>
            <a:r>
              <a:t>Operations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70248"/>
            <a:ext cx="3886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Manage a growing VM estate without repeating the same configuration work on each machine.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6118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7D5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3886200"/>
            <a:ext cx="530352" cy="530352"/>
          </a:xfrm>
          <a:prstGeom prst="ellipse">
            <a:avLst/>
          </a:prstGeom>
          <a:solidFill>
            <a:srgbClr val="7D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53035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313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7D5AA5"/>
                </a:solidFill>
                <a:latin typeface="Aptos"/>
              </a:defRPr>
            </a:pPr>
            <a:r>
              <a:t>Compliance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70248"/>
            <a:ext cx="3886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Identify VMs that deviate from the expected configuration and review exceptions.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How the solution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A high-level enforcement workflow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566928" cy="566928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46"/>
                </a:solidFill>
                <a:latin typeface="Aptos"/>
              </a:defRPr>
            </a:pPr>
            <a:r>
              <a:t>Inventory VMs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36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Identify subscriptions, resource groups, and VM configurations.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97480"/>
            <a:ext cx="566928" cy="566928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79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46"/>
                </a:solidFill>
                <a:latin typeface="Aptos"/>
              </a:defRPr>
            </a:pPr>
            <a:r>
              <a:t>Set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9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Define approved settings and supported configuration boundaries.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40480"/>
            <a:ext cx="566928" cy="566928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959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22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46"/>
                </a:solidFill>
                <a:latin typeface="Aptos"/>
              </a:defRPr>
            </a:pPr>
            <a:r>
              <a:t>Enforce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22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Use Azure Automanage to apply and maintain best practices.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83480"/>
            <a:ext cx="566928" cy="566928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65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46"/>
                </a:solidFill>
                <a:latin typeface="Aptos"/>
              </a:defRPr>
            </a:pPr>
            <a:r>
              <a:t>Monitor exceptions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65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Review drift, conflicts, and VMs requiring human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Bottlenecks students may encounter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Risks that require careful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BE7D19"/>
                </a:solidFill>
                <a:latin typeface="Aptos"/>
              </a:defRPr>
            </a:pPr>
            <a:r>
              <a:t>• Automanage overwrites intentional custom configuration</a:t>
            </a:r>
          </a:p>
          <a:p>
            <a:pPr>
              <a:spcAft>
                <a:spcPts val="1800"/>
              </a:spcAft>
              <a:defRPr sz="2600">
                <a:solidFill>
                  <a:srgbClr val="BE7D19"/>
                </a:solidFill>
                <a:latin typeface="Aptos"/>
              </a:defRPr>
            </a:pPr>
            <a:r>
              <a:t>• Supported configuration constraints are restrictive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D46"/>
                </a:solidFill>
                <a:latin typeface="Aptos"/>
              </a:defRPr>
            </a:pPr>
            <a:r>
              <a:t>Key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51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741"/>
                </a:solidFill>
                <a:latin typeface="Aptos"/>
              </a:defRPr>
            </a:pPr>
            <a:r>
              <a:t>Standardization  ↔  Customization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4389120"/>
            <a:ext cx="5669280" cy="16459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4224528"/>
            <a:ext cx="502920" cy="502920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741"/>
                </a:solidFill>
                <a:latin typeface="Aptos"/>
              </a:defRPr>
            </a:pPr>
            <a:r>
              <a:t>Best practice</a:t>
            </a:r>
          </a:p>
        </p:txBody>
      </p:sp>
      <p:sp>
        <p:nvSpPr>
          <p:cNvPr id="12" name="Oval 11"/>
          <p:cNvSpPr/>
          <p:nvPr/>
        </p:nvSpPr>
        <p:spPr>
          <a:xfrm>
            <a:off x="10469880" y="4224528"/>
            <a:ext cx="502920" cy="502920"/>
          </a:xfrm>
          <a:prstGeom prst="ellipse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741"/>
                </a:solidFill>
                <a:latin typeface="Aptos"/>
              </a:defRPr>
            </a:pPr>
            <a:r>
              <a:t>Custom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6235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791"/>
                </a:solidFill>
                <a:latin typeface="Aptos"/>
              </a:defRPr>
            </a:pPr>
            <a:r>
              <a:t>The solution must distinguish between safe defaults and intentional exceptions.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Recommended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Balancing automation with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t>• Create a baseline inventory before enabling enforcement.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t>• Classify VMs: standard, customized, and exceptional.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t>• Test Automanage settings in a non-production environment.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t>• Document configuration ownership and approved exceptions.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t>• Monitor changes and review compliance regularly.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6"/>
                </a:solidFill>
                <a:latin typeface="Aptos"/>
              </a:defRPr>
            </a:pPr>
            <a:r>
              <a:t>Expected benefits and success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8"/>
                </a:solidFill>
                <a:latin typeface="Aptos"/>
              </a:defRPr>
            </a:pPr>
            <a:r>
              <a:t>What a successful implementation should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791"/>
                </a:solidFill>
                <a:latin typeface="Aptos"/>
              </a:defRPr>
            </a:pPr>
            <a:r>
              <a:t>Lower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Fewer repetitive manual configuration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791"/>
                </a:solidFill>
                <a:latin typeface="Aptos"/>
              </a:defRPr>
            </a:pPr>
            <a:r>
              <a:t>Higher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677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More VMs aligned with the approved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8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791"/>
                </a:solidFill>
                <a:latin typeface="Aptos"/>
              </a:defRPr>
            </a:pPr>
            <a:r>
              <a:t>Faster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251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New VMs receive standards quickly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1188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791"/>
                </a:solidFill>
                <a:latin typeface="Aptos"/>
              </a:defRPr>
            </a:pPr>
            <a:r>
              <a:t>Controlled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251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Custom settings remain intentional and documented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772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Automate the routine.</a:t>
            </a:r>
            <a:br/>
            <a:r>
              <a:t>Protect the intentional.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7E6EE"/>
                </a:solidFill>
                <a:latin typeface="Aptos"/>
              </a:defRPr>
            </a:pPr>
            <a:r>
              <a:t>Azure Automanage can reduce configuration effort and improve VM consistency—but only when baselines, exceptions, and supported constraints are managed deliberately.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DCE6"/>
                </a:solidFill>
                <a:latin typeface="Aptos"/>
              </a:defRPr>
            </a:pPr>
            <a:r>
              <a:t>Discussion question: Which VM configurations should never be overwritten automatically?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828C"/>
                </a:solidFill>
                <a:latin typeface="Aptos"/>
              </a:defRPr>
            </a:pPr>
            <a:r>
              <a:t>Azure Automanage and VM Best Practice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828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